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Lora"/>
      <p:regular r:id="rId15"/>
    </p:embeddedFont>
    <p:embeddedFont>
      <p:font typeface="Lora"/>
      <p:regular r:id="rId16"/>
    </p:embeddedFont>
    <p:embeddedFont>
      <p:font typeface="Lora"/>
      <p:regular r:id="rId17"/>
    </p:embeddedFont>
    <p:embeddedFont>
      <p:font typeface="Lora"/>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will explore a real-life application of Python in the healthcare industry, specifically in the development of an AI-powered diagnostic tool called "AI Cure".
The AI Cure system leverages advanced machine learning algorithms to analyze medical images, such as X-ray scans, and provide accurate and timely diagnoses to healthcare professionals.
By automating the image analysis process, AI Cure can help reduce the workload on medical staff, allowing them to focus on providing the best possible care to patients.
The use of Python in the development of AI Cure has been instrumental in its success, as the language's flexibility and extensive library ecosystem have enabled the creation of a powerful and scalable solution.
I'm excited to share more details about how AI Cure is transforming the healthcare industry and the role of Python in making this technology a reality.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30303"/>
          </a:solidFill>
          <a:ln/>
        </p:spPr>
      </p:sp>
      <p:sp>
        <p:nvSpPr>
          <p:cNvPr id="3" name="Shape 1"/>
          <p:cNvSpPr/>
          <p:nvPr/>
        </p:nvSpPr>
        <p:spPr>
          <a:xfrm>
            <a:off x="0" y="0"/>
            <a:ext cx="14630400" cy="8229600"/>
          </a:xfrm>
          <a:prstGeom prst="rect">
            <a:avLst/>
          </a:prstGeom>
          <a:solidFill>
            <a:srgbClr val="03030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2683073"/>
            <a:ext cx="7556421" cy="2126337"/>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Lora" pitchFamily="34" charset="0"/>
                <a:ea typeface="Lora" pitchFamily="34" charset="-122"/>
                <a:cs typeface="Lora" pitchFamily="34" charset="-120"/>
              </a:rPr>
              <a:t>AI Cure: A Real-Life Application of Python in Healthcare</a:t>
            </a:r>
            <a:endParaRPr lang="en-US" sz="4450" dirty="0"/>
          </a:p>
        </p:txBody>
      </p:sp>
      <p:sp>
        <p:nvSpPr>
          <p:cNvPr id="4" name="Shape 1"/>
          <p:cNvSpPr/>
          <p:nvPr/>
        </p:nvSpPr>
        <p:spPr>
          <a:xfrm>
            <a:off x="7987308" y="5166479"/>
            <a:ext cx="362903" cy="362903"/>
          </a:xfrm>
          <a:prstGeom prst="roundRect">
            <a:avLst>
              <a:gd name="adj" fmla="val 25194296"/>
            </a:avLst>
          </a:prstGeom>
          <a:solidFill>
            <a:srgbClr val="4F5AF4"/>
          </a:solidFill>
          <a:ln w="7620">
            <a:solidFill>
              <a:srgbClr val="FFFFFF"/>
            </a:solidFill>
            <a:prstDash val="solid"/>
          </a:ln>
        </p:spPr>
      </p:sp>
      <p:sp>
        <p:nvSpPr>
          <p:cNvPr id="5" name="Text 2"/>
          <p:cNvSpPr/>
          <p:nvPr/>
        </p:nvSpPr>
        <p:spPr>
          <a:xfrm>
            <a:off x="8118396" y="5299115"/>
            <a:ext cx="100608" cy="97512"/>
          </a:xfrm>
          <a:prstGeom prst="rect">
            <a:avLst/>
          </a:prstGeom>
          <a:noFill/>
          <a:ln/>
        </p:spPr>
        <p:txBody>
          <a:bodyPr wrap="none" lIns="0" tIns="0" rIns="0" bIns="0" rtlCol="0" anchor="t"/>
          <a:lstStyle/>
          <a:p>
            <a:pPr algn="ctr" indent="0" marL="0">
              <a:lnSpc>
                <a:spcPts val="750"/>
              </a:lnSpc>
              <a:buNone/>
            </a:pPr>
            <a:r>
              <a:rPr lang="en-US" sz="750" dirty="0">
                <a:solidFill>
                  <a:srgbClr val="FFFFFF"/>
                </a:solidFill>
                <a:latin typeface="Source Sans Pro Medium" pitchFamily="34" charset="0"/>
                <a:ea typeface="Source Sans Pro Medium" pitchFamily="34" charset="-122"/>
                <a:cs typeface="Source Sans Pro Medium" pitchFamily="34" charset="-120"/>
              </a:rPr>
              <a:t>ts</a:t>
            </a:r>
            <a:endParaRPr lang="en-US" sz="750" dirty="0"/>
          </a:p>
        </p:txBody>
      </p:sp>
      <p:sp>
        <p:nvSpPr>
          <p:cNvPr id="6" name="Text 3"/>
          <p:cNvSpPr/>
          <p:nvPr/>
        </p:nvSpPr>
        <p:spPr>
          <a:xfrm>
            <a:off x="5975271" y="5149572"/>
            <a:ext cx="1898690" cy="396835"/>
          </a:xfrm>
          <a:prstGeom prst="rect">
            <a:avLst/>
          </a:prstGeom>
          <a:noFill/>
          <a:ln/>
        </p:spPr>
        <p:txBody>
          <a:bodyPr wrap="none" lIns="0" tIns="0" rIns="0" bIns="0" rtlCol="0" anchor="t"/>
          <a:lstStyle/>
          <a:p>
            <a:pPr algn="r" indent="0" marL="0">
              <a:lnSpc>
                <a:spcPts val="3100"/>
              </a:lnSpc>
              <a:buNone/>
            </a:pPr>
            <a:r>
              <a:rPr lang="en-US" sz="2200" b="1" dirty="0">
                <a:solidFill>
                  <a:srgbClr val="E5E0DF"/>
                </a:solidFill>
                <a:latin typeface="Source Sans Pro Bold" pitchFamily="34" charset="0"/>
                <a:ea typeface="Source Sans Pro Bold" pitchFamily="34" charset="-122"/>
                <a:cs typeface="Source Sans Pro Bold" pitchFamily="34" charset="-120"/>
              </a:rPr>
              <a:t>by tanvi  shinde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539960"/>
            <a:ext cx="8697397"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Lora" pitchFamily="34" charset="0"/>
                <a:ea typeface="Lora" pitchFamily="34" charset="-122"/>
                <a:cs typeface="Lora" pitchFamily="34" charset="-120"/>
              </a:rPr>
              <a:t>The Role of Python in Healthcare</a:t>
            </a:r>
            <a:endParaRPr lang="en-US" sz="4450" dirty="0"/>
          </a:p>
        </p:txBody>
      </p:sp>
      <p:sp>
        <p:nvSpPr>
          <p:cNvPr id="3" name="Text 1"/>
          <p:cNvSpPr/>
          <p:nvPr/>
        </p:nvSpPr>
        <p:spPr>
          <a:xfrm>
            <a:off x="793790" y="3815715"/>
            <a:ext cx="4756666"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Lora" pitchFamily="34" charset="0"/>
                <a:ea typeface="Lora" pitchFamily="34" charset="-122"/>
                <a:cs typeface="Lora" pitchFamily="34" charset="-120"/>
              </a:rPr>
              <a:t>Data Analysis and Machine Learning</a:t>
            </a:r>
            <a:endParaRPr lang="en-US" sz="2200" dirty="0"/>
          </a:p>
        </p:txBody>
      </p:sp>
      <p:sp>
        <p:nvSpPr>
          <p:cNvPr id="4" name="Text 2"/>
          <p:cNvSpPr/>
          <p:nvPr/>
        </p:nvSpPr>
        <p:spPr>
          <a:xfrm>
            <a:off x="793790" y="4396859"/>
            <a:ext cx="6070163" cy="1088708"/>
          </a:xfrm>
          <a:prstGeom prst="rect">
            <a:avLst/>
          </a:prstGeom>
          <a:noFill/>
          <a:ln/>
        </p:spPr>
        <p:txBody>
          <a:bodyPr wrap="square" lIns="0" tIns="0" rIns="0" bIns="0" rtlCol="0" anchor="t"/>
          <a:lstStyle/>
          <a:p>
            <a:pPr indent="0" marL="0">
              <a:lnSpc>
                <a:spcPts val="2850"/>
              </a:lnSpc>
              <a:buNone/>
            </a:pPr>
            <a:r>
              <a:rPr lang="en-US" sz="1750" dirty="0">
                <a:solidFill>
                  <a:srgbClr val="E5E0DF"/>
                </a:solidFill>
                <a:latin typeface="Source Sans Pro" pitchFamily="34" charset="0"/>
                <a:ea typeface="Source Sans Pro" pitchFamily="34" charset="-122"/>
                <a:cs typeface="Source Sans Pro" pitchFamily="34" charset="-120"/>
              </a:rPr>
              <a:t>Python's robust libraries like Pandas and Scikit-learn empower healthcare professionals to analyze patient data and develop predictive models.</a:t>
            </a:r>
            <a:endParaRPr lang="en-US" sz="1750" dirty="0"/>
          </a:p>
        </p:txBody>
      </p:sp>
      <p:sp>
        <p:nvSpPr>
          <p:cNvPr id="5" name="Text 3"/>
          <p:cNvSpPr/>
          <p:nvPr/>
        </p:nvSpPr>
        <p:spPr>
          <a:xfrm>
            <a:off x="7424976" y="3815715"/>
            <a:ext cx="3414951"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Lora" pitchFamily="34" charset="0"/>
                <a:ea typeface="Lora" pitchFamily="34" charset="-122"/>
                <a:cs typeface="Lora" pitchFamily="34" charset="-120"/>
              </a:rPr>
              <a:t>Medical Image Processing</a:t>
            </a:r>
            <a:endParaRPr lang="en-US" sz="2200" dirty="0"/>
          </a:p>
        </p:txBody>
      </p:sp>
      <p:sp>
        <p:nvSpPr>
          <p:cNvPr id="6" name="Text 4"/>
          <p:cNvSpPr/>
          <p:nvPr/>
        </p:nvSpPr>
        <p:spPr>
          <a:xfrm>
            <a:off x="7424976" y="4396859"/>
            <a:ext cx="6070163" cy="1088708"/>
          </a:xfrm>
          <a:prstGeom prst="rect">
            <a:avLst/>
          </a:prstGeom>
          <a:noFill/>
          <a:ln/>
        </p:spPr>
        <p:txBody>
          <a:bodyPr wrap="square" lIns="0" tIns="0" rIns="0" bIns="0" rtlCol="0" anchor="t"/>
          <a:lstStyle/>
          <a:p>
            <a:pPr indent="0" marL="0">
              <a:lnSpc>
                <a:spcPts val="2850"/>
              </a:lnSpc>
              <a:buNone/>
            </a:pPr>
            <a:r>
              <a:rPr lang="en-US" sz="1750" dirty="0">
                <a:solidFill>
                  <a:srgbClr val="E5E0DF"/>
                </a:solidFill>
                <a:latin typeface="Source Sans Pro" pitchFamily="34" charset="0"/>
                <a:ea typeface="Source Sans Pro" pitchFamily="34" charset="-122"/>
                <a:cs typeface="Source Sans Pro" pitchFamily="34" charset="-120"/>
              </a:rPr>
              <a:t>AI algorithms built with Python are transforming medical imaging, enabling faster and more accurate diagnoses, and personalized treatments.</a:t>
            </a:r>
            <a:endParaRPr lang="en-US" sz="1750" dirty="0"/>
          </a:p>
        </p:txBody>
      </p:sp>
      <p:pic>
        <p:nvPicPr>
          <p:cNvPr id="7" name="Image 0" descr="preencoded.png">    </p:cNvPr>
          <p:cNvPicPr>
            <a:picLocks noChangeAspect="1"/>
          </p:cNvPicPr>
          <p:nvPr/>
        </p:nvPicPr>
        <p:blipFill>
          <a:blip r:embed="rId1"/>
          <a:stretch>
            <a:fillRect/>
          </a:stretch>
        </p:blipFill>
        <p:spPr>
          <a:xfrm>
            <a:off x="13716000" y="228600"/>
            <a:ext cx="685800"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12681" y="865108"/>
            <a:ext cx="7274838" cy="1297067"/>
          </a:xfrm>
          <a:prstGeom prst="rect">
            <a:avLst/>
          </a:prstGeom>
          <a:noFill/>
          <a:ln/>
        </p:spPr>
        <p:txBody>
          <a:bodyPr wrap="square" lIns="0" tIns="0" rIns="0" bIns="0" rtlCol="0" anchor="t"/>
          <a:lstStyle/>
          <a:p>
            <a:pPr indent="0" marL="0">
              <a:lnSpc>
                <a:spcPts val="5100"/>
              </a:lnSpc>
              <a:buNone/>
            </a:pPr>
            <a:r>
              <a:rPr lang="en-US" sz="4050" dirty="0">
                <a:solidFill>
                  <a:srgbClr val="FFFFFF"/>
                </a:solidFill>
                <a:latin typeface="Lora" pitchFamily="34" charset="0"/>
                <a:ea typeface="Lora" pitchFamily="34" charset="-122"/>
                <a:cs typeface="Lora" pitchFamily="34" charset="-120"/>
              </a:rPr>
              <a:t>AI Applications in the Medical Industry</a:t>
            </a:r>
            <a:endParaRPr lang="en-US" sz="4050" dirty="0"/>
          </a:p>
        </p:txBody>
      </p:sp>
      <p:sp>
        <p:nvSpPr>
          <p:cNvPr id="4" name="Shape 1"/>
          <p:cNvSpPr/>
          <p:nvPr/>
        </p:nvSpPr>
        <p:spPr>
          <a:xfrm>
            <a:off x="6212681" y="2706767"/>
            <a:ext cx="466844" cy="466844"/>
          </a:xfrm>
          <a:prstGeom prst="roundRect">
            <a:avLst>
              <a:gd name="adj" fmla="val 66680"/>
            </a:avLst>
          </a:prstGeom>
          <a:solidFill>
            <a:srgbClr val="222222"/>
          </a:solidFill>
          <a:ln w="7620">
            <a:solidFill>
              <a:srgbClr val="3B3B3B"/>
            </a:solidFill>
            <a:prstDash val="solid"/>
          </a:ln>
          <a:effectLst>
            <a:outerShdw sx="100000" sy="100000" kx="0" ky="0" algn="bl" rotWithShape="0" blurRad="0" dist="19050" dir="2700000">
              <a:srgbClr val="3b3b3b">
                <a:alpha val="100000"/>
              </a:srgbClr>
            </a:outerShdw>
          </a:effectLst>
        </p:spPr>
      </p:sp>
      <p:sp>
        <p:nvSpPr>
          <p:cNvPr id="5" name="Text 2"/>
          <p:cNvSpPr/>
          <p:nvPr/>
        </p:nvSpPr>
        <p:spPr>
          <a:xfrm>
            <a:off x="6389370" y="2784515"/>
            <a:ext cx="113348" cy="311348"/>
          </a:xfrm>
          <a:prstGeom prst="rect">
            <a:avLst/>
          </a:prstGeom>
          <a:noFill/>
          <a:ln/>
        </p:spPr>
        <p:txBody>
          <a:bodyPr wrap="none" lIns="0" tIns="0" rIns="0" bIns="0" rtlCol="0" anchor="t"/>
          <a:lstStyle/>
          <a:p>
            <a:pPr algn="ctr" indent="0" marL="0">
              <a:lnSpc>
                <a:spcPts val="2450"/>
              </a:lnSpc>
              <a:buNone/>
            </a:pPr>
            <a:r>
              <a:rPr lang="en-US" sz="2450" dirty="0">
                <a:solidFill>
                  <a:srgbClr val="E5E0DF"/>
                </a:solidFill>
                <a:latin typeface="Lora" pitchFamily="34" charset="0"/>
                <a:ea typeface="Lora" pitchFamily="34" charset="-122"/>
                <a:cs typeface="Lora" pitchFamily="34" charset="-120"/>
              </a:rPr>
              <a:t>1</a:t>
            </a:r>
            <a:endParaRPr lang="en-US" sz="2450" dirty="0"/>
          </a:p>
        </p:txBody>
      </p:sp>
      <p:sp>
        <p:nvSpPr>
          <p:cNvPr id="6" name="Text 3"/>
          <p:cNvSpPr/>
          <p:nvPr/>
        </p:nvSpPr>
        <p:spPr>
          <a:xfrm>
            <a:off x="6887051" y="2706767"/>
            <a:ext cx="2594015" cy="324207"/>
          </a:xfrm>
          <a:prstGeom prst="rect">
            <a:avLst/>
          </a:prstGeom>
          <a:noFill/>
          <a:ln/>
        </p:spPr>
        <p:txBody>
          <a:bodyPr wrap="none" lIns="0" tIns="0" rIns="0" bIns="0" rtlCol="0" anchor="t"/>
          <a:lstStyle/>
          <a:p>
            <a:pPr indent="0" marL="0">
              <a:lnSpc>
                <a:spcPts val="2550"/>
              </a:lnSpc>
              <a:buNone/>
            </a:pPr>
            <a:r>
              <a:rPr lang="en-US" sz="2000" dirty="0">
                <a:solidFill>
                  <a:srgbClr val="E5E0DF"/>
                </a:solidFill>
                <a:latin typeface="Lora" pitchFamily="34" charset="0"/>
                <a:ea typeface="Lora" pitchFamily="34" charset="-122"/>
                <a:cs typeface="Lora" pitchFamily="34" charset="-120"/>
              </a:rPr>
              <a:t>Disease Diagnosis</a:t>
            </a:r>
            <a:endParaRPr lang="en-US" sz="2000" dirty="0"/>
          </a:p>
        </p:txBody>
      </p:sp>
      <p:sp>
        <p:nvSpPr>
          <p:cNvPr id="7" name="Text 4"/>
          <p:cNvSpPr/>
          <p:nvPr/>
        </p:nvSpPr>
        <p:spPr>
          <a:xfrm>
            <a:off x="6887051" y="3155394"/>
            <a:ext cx="2859286" cy="1659731"/>
          </a:xfrm>
          <a:prstGeom prst="rect">
            <a:avLst/>
          </a:prstGeom>
          <a:noFill/>
          <a:ln/>
        </p:spPr>
        <p:txBody>
          <a:bodyPr wrap="square" lIns="0" tIns="0" rIns="0" bIns="0" rtlCol="0" anchor="t"/>
          <a:lstStyle/>
          <a:p>
            <a:pPr indent="0" marL="0">
              <a:lnSpc>
                <a:spcPts val="2600"/>
              </a:lnSpc>
              <a:buNone/>
            </a:pPr>
            <a:r>
              <a:rPr lang="en-US" sz="1600" dirty="0">
                <a:solidFill>
                  <a:srgbClr val="E5E0DF"/>
                </a:solidFill>
                <a:latin typeface="Source Sans Pro" pitchFamily="34" charset="0"/>
                <a:ea typeface="Source Sans Pro" pitchFamily="34" charset="-122"/>
                <a:cs typeface="Source Sans Pro" pitchFamily="34" charset="-120"/>
              </a:rPr>
              <a:t>AI can analyze medical images and patient records to detect diseases earlier and more accurately, leading to faster intervention.</a:t>
            </a:r>
            <a:endParaRPr lang="en-US" sz="1600" dirty="0"/>
          </a:p>
        </p:txBody>
      </p:sp>
      <p:sp>
        <p:nvSpPr>
          <p:cNvPr id="8" name="Shape 5"/>
          <p:cNvSpPr/>
          <p:nvPr/>
        </p:nvSpPr>
        <p:spPr>
          <a:xfrm>
            <a:off x="9953863" y="2706767"/>
            <a:ext cx="466844" cy="466844"/>
          </a:xfrm>
          <a:prstGeom prst="roundRect">
            <a:avLst>
              <a:gd name="adj" fmla="val 66680"/>
            </a:avLst>
          </a:prstGeom>
          <a:solidFill>
            <a:srgbClr val="222222"/>
          </a:solidFill>
          <a:ln w="7620">
            <a:solidFill>
              <a:srgbClr val="3B3B3B"/>
            </a:solidFill>
            <a:prstDash val="solid"/>
          </a:ln>
          <a:effectLst>
            <a:outerShdw sx="100000" sy="100000" kx="0" ky="0" algn="bl" rotWithShape="0" blurRad="0" dist="19050" dir="2700000">
              <a:srgbClr val="3b3b3b">
                <a:alpha val="100000"/>
              </a:srgbClr>
            </a:outerShdw>
          </a:effectLst>
        </p:spPr>
      </p:sp>
      <p:sp>
        <p:nvSpPr>
          <p:cNvPr id="9" name="Text 6"/>
          <p:cNvSpPr/>
          <p:nvPr/>
        </p:nvSpPr>
        <p:spPr>
          <a:xfrm>
            <a:off x="10103644" y="2784515"/>
            <a:ext cx="167164" cy="311348"/>
          </a:xfrm>
          <a:prstGeom prst="rect">
            <a:avLst/>
          </a:prstGeom>
          <a:noFill/>
          <a:ln/>
        </p:spPr>
        <p:txBody>
          <a:bodyPr wrap="none" lIns="0" tIns="0" rIns="0" bIns="0" rtlCol="0" anchor="t"/>
          <a:lstStyle/>
          <a:p>
            <a:pPr algn="ctr" indent="0" marL="0">
              <a:lnSpc>
                <a:spcPts val="2450"/>
              </a:lnSpc>
              <a:buNone/>
            </a:pPr>
            <a:r>
              <a:rPr lang="en-US" sz="2450" dirty="0">
                <a:solidFill>
                  <a:srgbClr val="E5E0DF"/>
                </a:solidFill>
                <a:latin typeface="Lora" pitchFamily="34" charset="0"/>
                <a:ea typeface="Lora" pitchFamily="34" charset="-122"/>
                <a:cs typeface="Lora" pitchFamily="34" charset="-120"/>
              </a:rPr>
              <a:t>2</a:t>
            </a:r>
            <a:endParaRPr lang="en-US" sz="2450" dirty="0"/>
          </a:p>
        </p:txBody>
      </p:sp>
      <p:sp>
        <p:nvSpPr>
          <p:cNvPr id="10" name="Text 7"/>
          <p:cNvSpPr/>
          <p:nvPr/>
        </p:nvSpPr>
        <p:spPr>
          <a:xfrm>
            <a:off x="10628233" y="2706767"/>
            <a:ext cx="2594015" cy="324207"/>
          </a:xfrm>
          <a:prstGeom prst="rect">
            <a:avLst/>
          </a:prstGeom>
          <a:noFill/>
          <a:ln/>
        </p:spPr>
        <p:txBody>
          <a:bodyPr wrap="none" lIns="0" tIns="0" rIns="0" bIns="0" rtlCol="0" anchor="t"/>
          <a:lstStyle/>
          <a:p>
            <a:pPr indent="0" marL="0">
              <a:lnSpc>
                <a:spcPts val="2550"/>
              </a:lnSpc>
              <a:buNone/>
            </a:pPr>
            <a:r>
              <a:rPr lang="en-US" sz="2000" dirty="0">
                <a:solidFill>
                  <a:srgbClr val="E5E0DF"/>
                </a:solidFill>
                <a:latin typeface="Lora" pitchFamily="34" charset="0"/>
                <a:ea typeface="Lora" pitchFamily="34" charset="-122"/>
                <a:cs typeface="Lora" pitchFamily="34" charset="-120"/>
              </a:rPr>
              <a:t>Drug Discovery</a:t>
            </a:r>
            <a:endParaRPr lang="en-US" sz="2000" dirty="0"/>
          </a:p>
        </p:txBody>
      </p:sp>
      <p:sp>
        <p:nvSpPr>
          <p:cNvPr id="11" name="Text 8"/>
          <p:cNvSpPr/>
          <p:nvPr/>
        </p:nvSpPr>
        <p:spPr>
          <a:xfrm>
            <a:off x="10628233" y="3155394"/>
            <a:ext cx="2859286" cy="1659731"/>
          </a:xfrm>
          <a:prstGeom prst="rect">
            <a:avLst/>
          </a:prstGeom>
          <a:noFill/>
          <a:ln/>
        </p:spPr>
        <p:txBody>
          <a:bodyPr wrap="square" lIns="0" tIns="0" rIns="0" bIns="0" rtlCol="0" anchor="t"/>
          <a:lstStyle/>
          <a:p>
            <a:pPr indent="0" marL="0">
              <a:lnSpc>
                <a:spcPts val="2600"/>
              </a:lnSpc>
              <a:buNone/>
            </a:pPr>
            <a:r>
              <a:rPr lang="en-US" sz="1600" dirty="0">
                <a:solidFill>
                  <a:srgbClr val="E5E0DF"/>
                </a:solidFill>
                <a:latin typeface="Source Sans Pro" pitchFamily="34" charset="0"/>
                <a:ea typeface="Source Sans Pro" pitchFamily="34" charset="-122"/>
                <a:cs typeface="Source Sans Pro" pitchFamily="34" charset="-120"/>
              </a:rPr>
              <a:t>AI algorithms can accelerate the drug discovery process by identifying promising drug candidates and optimizing drug formulations.</a:t>
            </a:r>
            <a:endParaRPr lang="en-US" sz="1600" dirty="0"/>
          </a:p>
        </p:txBody>
      </p:sp>
      <p:sp>
        <p:nvSpPr>
          <p:cNvPr id="12" name="Shape 9"/>
          <p:cNvSpPr/>
          <p:nvPr/>
        </p:nvSpPr>
        <p:spPr>
          <a:xfrm>
            <a:off x="6212681" y="5256014"/>
            <a:ext cx="466844" cy="466844"/>
          </a:xfrm>
          <a:prstGeom prst="roundRect">
            <a:avLst>
              <a:gd name="adj" fmla="val 66680"/>
            </a:avLst>
          </a:prstGeom>
          <a:solidFill>
            <a:srgbClr val="222222"/>
          </a:solidFill>
          <a:ln w="7620">
            <a:solidFill>
              <a:srgbClr val="3B3B3B"/>
            </a:solidFill>
            <a:prstDash val="solid"/>
          </a:ln>
          <a:effectLst>
            <a:outerShdw sx="100000" sy="100000" kx="0" ky="0" algn="bl" rotWithShape="0" blurRad="0" dist="19050" dir="2700000">
              <a:srgbClr val="3b3b3b">
                <a:alpha val="100000"/>
              </a:srgbClr>
            </a:outerShdw>
          </a:effectLst>
        </p:spPr>
      </p:sp>
      <p:sp>
        <p:nvSpPr>
          <p:cNvPr id="13" name="Text 10"/>
          <p:cNvSpPr/>
          <p:nvPr/>
        </p:nvSpPr>
        <p:spPr>
          <a:xfrm>
            <a:off x="6359366" y="5333762"/>
            <a:ext cx="173355" cy="311348"/>
          </a:xfrm>
          <a:prstGeom prst="rect">
            <a:avLst/>
          </a:prstGeom>
          <a:noFill/>
          <a:ln/>
        </p:spPr>
        <p:txBody>
          <a:bodyPr wrap="none" lIns="0" tIns="0" rIns="0" bIns="0" rtlCol="0" anchor="t"/>
          <a:lstStyle/>
          <a:p>
            <a:pPr algn="ctr" indent="0" marL="0">
              <a:lnSpc>
                <a:spcPts val="2450"/>
              </a:lnSpc>
              <a:buNone/>
            </a:pPr>
            <a:r>
              <a:rPr lang="en-US" sz="2450" dirty="0">
                <a:solidFill>
                  <a:srgbClr val="E5E0DF"/>
                </a:solidFill>
                <a:latin typeface="Lora" pitchFamily="34" charset="0"/>
                <a:ea typeface="Lora" pitchFamily="34" charset="-122"/>
                <a:cs typeface="Lora" pitchFamily="34" charset="-120"/>
              </a:rPr>
              <a:t>3</a:t>
            </a:r>
            <a:endParaRPr lang="en-US" sz="2450" dirty="0"/>
          </a:p>
        </p:txBody>
      </p:sp>
      <p:sp>
        <p:nvSpPr>
          <p:cNvPr id="14" name="Text 11"/>
          <p:cNvSpPr/>
          <p:nvPr/>
        </p:nvSpPr>
        <p:spPr>
          <a:xfrm>
            <a:off x="6887051" y="5256014"/>
            <a:ext cx="2719268" cy="324207"/>
          </a:xfrm>
          <a:prstGeom prst="rect">
            <a:avLst/>
          </a:prstGeom>
          <a:noFill/>
          <a:ln/>
        </p:spPr>
        <p:txBody>
          <a:bodyPr wrap="none" lIns="0" tIns="0" rIns="0" bIns="0" rtlCol="0" anchor="t"/>
          <a:lstStyle/>
          <a:p>
            <a:pPr indent="0" marL="0">
              <a:lnSpc>
                <a:spcPts val="2550"/>
              </a:lnSpc>
              <a:buNone/>
            </a:pPr>
            <a:r>
              <a:rPr lang="en-US" sz="2000" dirty="0">
                <a:solidFill>
                  <a:srgbClr val="E5E0DF"/>
                </a:solidFill>
                <a:latin typeface="Lora" pitchFamily="34" charset="0"/>
                <a:ea typeface="Lora" pitchFamily="34" charset="-122"/>
                <a:cs typeface="Lora" pitchFamily="34" charset="-120"/>
              </a:rPr>
              <a:t>Personalized Medicine</a:t>
            </a:r>
            <a:endParaRPr lang="en-US" sz="2000" dirty="0"/>
          </a:p>
        </p:txBody>
      </p:sp>
      <p:sp>
        <p:nvSpPr>
          <p:cNvPr id="15" name="Text 12"/>
          <p:cNvSpPr/>
          <p:nvPr/>
        </p:nvSpPr>
        <p:spPr>
          <a:xfrm>
            <a:off x="6887051" y="5704642"/>
            <a:ext cx="2859286" cy="1327785"/>
          </a:xfrm>
          <a:prstGeom prst="rect">
            <a:avLst/>
          </a:prstGeom>
          <a:noFill/>
          <a:ln/>
        </p:spPr>
        <p:txBody>
          <a:bodyPr wrap="square" lIns="0" tIns="0" rIns="0" bIns="0" rtlCol="0" anchor="t"/>
          <a:lstStyle/>
          <a:p>
            <a:pPr indent="0" marL="0">
              <a:lnSpc>
                <a:spcPts val="2600"/>
              </a:lnSpc>
              <a:buNone/>
            </a:pPr>
            <a:r>
              <a:rPr lang="en-US" sz="1600" dirty="0">
                <a:solidFill>
                  <a:srgbClr val="E5E0DF"/>
                </a:solidFill>
                <a:latin typeface="Source Sans Pro" pitchFamily="34" charset="0"/>
                <a:ea typeface="Source Sans Pro" pitchFamily="34" charset="-122"/>
                <a:cs typeface="Source Sans Pro" pitchFamily="34" charset="-120"/>
              </a:rPr>
              <a:t>AI algorithms can tailor treatment plans to individual patients based on their genetics, lifestyle, and medical history.</a:t>
            </a:r>
            <a:endParaRPr lang="en-US" sz="1600" dirty="0"/>
          </a:p>
        </p:txBody>
      </p:sp>
      <p:sp>
        <p:nvSpPr>
          <p:cNvPr id="16" name="Shape 13"/>
          <p:cNvSpPr/>
          <p:nvPr/>
        </p:nvSpPr>
        <p:spPr>
          <a:xfrm>
            <a:off x="9953863" y="5256014"/>
            <a:ext cx="466844" cy="466844"/>
          </a:xfrm>
          <a:prstGeom prst="roundRect">
            <a:avLst>
              <a:gd name="adj" fmla="val 66680"/>
            </a:avLst>
          </a:prstGeom>
          <a:solidFill>
            <a:srgbClr val="222222"/>
          </a:solidFill>
          <a:ln w="7620">
            <a:solidFill>
              <a:srgbClr val="3B3B3B"/>
            </a:solidFill>
            <a:prstDash val="solid"/>
          </a:ln>
          <a:effectLst>
            <a:outerShdw sx="100000" sy="100000" kx="0" ky="0" algn="bl" rotWithShape="0" blurRad="0" dist="19050" dir="2700000">
              <a:srgbClr val="3b3b3b">
                <a:alpha val="100000"/>
              </a:srgbClr>
            </a:outerShdw>
          </a:effectLst>
        </p:spPr>
      </p:sp>
      <p:sp>
        <p:nvSpPr>
          <p:cNvPr id="17" name="Text 14"/>
          <p:cNvSpPr/>
          <p:nvPr/>
        </p:nvSpPr>
        <p:spPr>
          <a:xfrm>
            <a:off x="10102929" y="5333762"/>
            <a:ext cx="168712" cy="311348"/>
          </a:xfrm>
          <a:prstGeom prst="rect">
            <a:avLst/>
          </a:prstGeom>
          <a:noFill/>
          <a:ln/>
        </p:spPr>
        <p:txBody>
          <a:bodyPr wrap="none" lIns="0" tIns="0" rIns="0" bIns="0" rtlCol="0" anchor="t"/>
          <a:lstStyle/>
          <a:p>
            <a:pPr algn="ctr" indent="0" marL="0">
              <a:lnSpc>
                <a:spcPts val="2450"/>
              </a:lnSpc>
              <a:buNone/>
            </a:pPr>
            <a:r>
              <a:rPr lang="en-US" sz="2450" dirty="0">
                <a:solidFill>
                  <a:srgbClr val="E5E0DF"/>
                </a:solidFill>
                <a:latin typeface="Lora" pitchFamily="34" charset="0"/>
                <a:ea typeface="Lora" pitchFamily="34" charset="-122"/>
                <a:cs typeface="Lora" pitchFamily="34" charset="-120"/>
              </a:rPr>
              <a:t>4</a:t>
            </a:r>
            <a:endParaRPr lang="en-US" sz="2450" dirty="0"/>
          </a:p>
        </p:txBody>
      </p:sp>
      <p:sp>
        <p:nvSpPr>
          <p:cNvPr id="18" name="Text 15"/>
          <p:cNvSpPr/>
          <p:nvPr/>
        </p:nvSpPr>
        <p:spPr>
          <a:xfrm>
            <a:off x="10628233" y="5256014"/>
            <a:ext cx="2594015" cy="324207"/>
          </a:xfrm>
          <a:prstGeom prst="rect">
            <a:avLst/>
          </a:prstGeom>
          <a:noFill/>
          <a:ln/>
        </p:spPr>
        <p:txBody>
          <a:bodyPr wrap="none" lIns="0" tIns="0" rIns="0" bIns="0" rtlCol="0" anchor="t"/>
          <a:lstStyle/>
          <a:p>
            <a:pPr indent="0" marL="0">
              <a:lnSpc>
                <a:spcPts val="2550"/>
              </a:lnSpc>
              <a:buNone/>
            </a:pPr>
            <a:r>
              <a:rPr lang="en-US" sz="2000" dirty="0">
                <a:solidFill>
                  <a:srgbClr val="E5E0DF"/>
                </a:solidFill>
                <a:latin typeface="Lora" pitchFamily="34" charset="0"/>
                <a:ea typeface="Lora" pitchFamily="34" charset="-122"/>
                <a:cs typeface="Lora" pitchFamily="34" charset="-120"/>
              </a:rPr>
              <a:t>Robotics and Surgery</a:t>
            </a:r>
            <a:endParaRPr lang="en-US" sz="2000" dirty="0"/>
          </a:p>
        </p:txBody>
      </p:sp>
      <p:sp>
        <p:nvSpPr>
          <p:cNvPr id="19" name="Text 16"/>
          <p:cNvSpPr/>
          <p:nvPr/>
        </p:nvSpPr>
        <p:spPr>
          <a:xfrm>
            <a:off x="10628233" y="5704642"/>
            <a:ext cx="2859286" cy="1659731"/>
          </a:xfrm>
          <a:prstGeom prst="rect">
            <a:avLst/>
          </a:prstGeom>
          <a:noFill/>
          <a:ln/>
        </p:spPr>
        <p:txBody>
          <a:bodyPr wrap="square" lIns="0" tIns="0" rIns="0" bIns="0" rtlCol="0" anchor="t"/>
          <a:lstStyle/>
          <a:p>
            <a:pPr indent="0" marL="0">
              <a:lnSpc>
                <a:spcPts val="2600"/>
              </a:lnSpc>
              <a:buNone/>
            </a:pPr>
            <a:r>
              <a:rPr lang="en-US" sz="1600" dirty="0">
                <a:solidFill>
                  <a:srgbClr val="E5E0DF"/>
                </a:solidFill>
                <a:latin typeface="Source Sans Pro" pitchFamily="34" charset="0"/>
                <a:ea typeface="Source Sans Pro" pitchFamily="34" charset="-122"/>
                <a:cs typeface="Source Sans Pro" pitchFamily="34" charset="-120"/>
              </a:rPr>
              <a:t>AI-powered robots are assisting surgeons in performing complex procedures with greater precision and minimally invasive techniques.</a:t>
            </a:r>
            <a:endParaRPr lang="en-US" sz="1600" dirty="0"/>
          </a:p>
        </p:txBody>
      </p:sp>
      <p:pic>
        <p:nvPicPr>
          <p:cNvPr id="20" name="Image 1" descr="preencoded.png">    </p:cNvPr>
          <p:cNvPicPr>
            <a:picLocks noChangeAspect="1"/>
          </p:cNvPicPr>
          <p:nvPr/>
        </p:nvPicPr>
        <p:blipFill>
          <a:blip r:embed="rId2"/>
          <a:stretch>
            <a:fillRect/>
          </a:stretch>
        </p:blipFill>
        <p:spPr>
          <a:xfrm>
            <a:off x="13716000" y="228600"/>
            <a:ext cx="685800"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33318"/>
            <a:ext cx="12693729"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Lora" pitchFamily="34" charset="0"/>
                <a:ea typeface="Lora" pitchFamily="34" charset="-122"/>
                <a:cs typeface="Lora" pitchFamily="34" charset="-120"/>
              </a:rPr>
              <a:t>Case Studies: Startups Leveraging Python and AI</a:t>
            </a:r>
            <a:endParaRPr lang="en-US" sz="4450" dirty="0"/>
          </a:p>
        </p:txBody>
      </p:sp>
      <p:pic>
        <p:nvPicPr>
          <p:cNvPr id="3" name="Image 0" descr="preencoded.png">    </p:cNvPr>
          <p:cNvPicPr>
            <a:picLocks noChangeAspect="1"/>
          </p:cNvPicPr>
          <p:nvPr/>
        </p:nvPicPr>
        <p:blipFill>
          <a:blip r:embed="rId1"/>
          <a:stretch>
            <a:fillRect/>
          </a:stretch>
        </p:blipFill>
        <p:spPr>
          <a:xfrm>
            <a:off x="793790" y="2704505"/>
            <a:ext cx="4004429" cy="2474833"/>
          </a:xfrm>
          <a:prstGeom prst="rect">
            <a:avLst/>
          </a:prstGeom>
        </p:spPr>
      </p:pic>
      <p:sp>
        <p:nvSpPr>
          <p:cNvPr id="4" name="Text 1"/>
          <p:cNvSpPr/>
          <p:nvPr/>
        </p:nvSpPr>
        <p:spPr>
          <a:xfrm>
            <a:off x="793790" y="5462826"/>
            <a:ext cx="4004429" cy="708660"/>
          </a:xfrm>
          <a:prstGeom prst="rect">
            <a:avLst/>
          </a:prstGeom>
          <a:noFill/>
          <a:ln/>
        </p:spPr>
        <p:txBody>
          <a:bodyPr wrap="square" lIns="0" tIns="0" rIns="0" bIns="0" rtlCol="0" anchor="t"/>
          <a:lstStyle/>
          <a:p>
            <a:pPr algn="l" indent="0" marL="0">
              <a:lnSpc>
                <a:spcPts val="2750"/>
              </a:lnSpc>
              <a:buNone/>
            </a:pPr>
            <a:r>
              <a:rPr lang="en-US" sz="2200" dirty="0">
                <a:solidFill>
                  <a:srgbClr val="E5E0DF"/>
                </a:solidFill>
                <a:latin typeface="Lora" pitchFamily="34" charset="0"/>
                <a:ea typeface="Lora" pitchFamily="34" charset="-122"/>
                <a:cs typeface="Lora" pitchFamily="34" charset="-120"/>
              </a:rPr>
              <a:t>AI-Powered Health Monitoring</a:t>
            </a:r>
            <a:endParaRPr lang="en-US" sz="2200" dirty="0"/>
          </a:p>
        </p:txBody>
      </p:sp>
      <p:sp>
        <p:nvSpPr>
          <p:cNvPr id="5" name="Text 2"/>
          <p:cNvSpPr/>
          <p:nvPr/>
        </p:nvSpPr>
        <p:spPr>
          <a:xfrm>
            <a:off x="793790" y="6307574"/>
            <a:ext cx="4004429"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Source Sans Pro" pitchFamily="34" charset="0"/>
                <a:ea typeface="Source Sans Pro" pitchFamily="34" charset="-122"/>
                <a:cs typeface="Source Sans Pro" pitchFamily="34" charset="-120"/>
              </a:rPr>
              <a:t>Companies are developing wearable devices that monitor vital signs and alert doctors to potential health issues.</a:t>
            </a:r>
            <a:endParaRPr lang="en-US" sz="1750" dirty="0"/>
          </a:p>
        </p:txBody>
      </p:sp>
      <p:pic>
        <p:nvPicPr>
          <p:cNvPr id="6" name="Image 1" descr="preencoded.png">    </p:cNvPr>
          <p:cNvPicPr>
            <a:picLocks noChangeAspect="1"/>
          </p:cNvPicPr>
          <p:nvPr/>
        </p:nvPicPr>
        <p:blipFill>
          <a:blip r:embed="rId2"/>
          <a:stretch>
            <a:fillRect/>
          </a:stretch>
        </p:blipFill>
        <p:spPr>
          <a:xfrm>
            <a:off x="5138380" y="2704505"/>
            <a:ext cx="4004429" cy="2474833"/>
          </a:xfrm>
          <a:prstGeom prst="rect">
            <a:avLst/>
          </a:prstGeom>
        </p:spPr>
      </p:pic>
      <p:sp>
        <p:nvSpPr>
          <p:cNvPr id="7" name="Text 3"/>
          <p:cNvSpPr/>
          <p:nvPr/>
        </p:nvSpPr>
        <p:spPr>
          <a:xfrm>
            <a:off x="5138380" y="5462826"/>
            <a:ext cx="3223617"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Lora" pitchFamily="34" charset="0"/>
                <a:ea typeface="Lora" pitchFamily="34" charset="-122"/>
                <a:cs typeface="Lora" pitchFamily="34" charset="-120"/>
              </a:rPr>
              <a:t>Virtual Health Assistants</a:t>
            </a:r>
            <a:endParaRPr lang="en-US" sz="2200" dirty="0"/>
          </a:p>
        </p:txBody>
      </p:sp>
      <p:sp>
        <p:nvSpPr>
          <p:cNvPr id="8" name="Text 4"/>
          <p:cNvSpPr/>
          <p:nvPr/>
        </p:nvSpPr>
        <p:spPr>
          <a:xfrm>
            <a:off x="5138380" y="5953244"/>
            <a:ext cx="4004429"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Source Sans Pro" pitchFamily="34" charset="0"/>
                <a:ea typeface="Source Sans Pro" pitchFamily="34" charset="-122"/>
                <a:cs typeface="Source Sans Pro" pitchFamily="34" charset="-120"/>
              </a:rPr>
              <a:t>AI-powered chatbots provide 24/7 patient support, answer questions, and manage appointments.</a:t>
            </a:r>
            <a:endParaRPr lang="en-US" sz="1750" dirty="0"/>
          </a:p>
        </p:txBody>
      </p:sp>
      <p:pic>
        <p:nvPicPr>
          <p:cNvPr id="9" name="Image 2" descr="preencoded.png">    </p:cNvPr>
          <p:cNvPicPr>
            <a:picLocks noChangeAspect="1"/>
          </p:cNvPicPr>
          <p:nvPr/>
        </p:nvPicPr>
        <p:blipFill>
          <a:blip r:embed="rId3"/>
          <a:stretch>
            <a:fillRect/>
          </a:stretch>
        </p:blipFill>
        <p:spPr>
          <a:xfrm>
            <a:off x="9482971" y="2704505"/>
            <a:ext cx="4004429" cy="2474833"/>
          </a:xfrm>
          <a:prstGeom prst="rect">
            <a:avLst/>
          </a:prstGeom>
        </p:spPr>
      </p:pic>
      <p:sp>
        <p:nvSpPr>
          <p:cNvPr id="10" name="Text 5"/>
          <p:cNvSpPr/>
          <p:nvPr/>
        </p:nvSpPr>
        <p:spPr>
          <a:xfrm>
            <a:off x="9482971" y="5462826"/>
            <a:ext cx="4004429" cy="708660"/>
          </a:xfrm>
          <a:prstGeom prst="rect">
            <a:avLst/>
          </a:prstGeom>
          <a:noFill/>
          <a:ln/>
        </p:spPr>
        <p:txBody>
          <a:bodyPr wrap="square" lIns="0" tIns="0" rIns="0" bIns="0" rtlCol="0" anchor="t"/>
          <a:lstStyle/>
          <a:p>
            <a:pPr algn="l" indent="0" marL="0">
              <a:lnSpc>
                <a:spcPts val="2750"/>
              </a:lnSpc>
              <a:buNone/>
            </a:pPr>
            <a:r>
              <a:rPr lang="en-US" sz="2200" dirty="0">
                <a:solidFill>
                  <a:srgbClr val="E5E0DF"/>
                </a:solidFill>
                <a:latin typeface="Lora" pitchFamily="34" charset="0"/>
                <a:ea typeface="Lora" pitchFamily="34" charset="-122"/>
                <a:cs typeface="Lora" pitchFamily="34" charset="-120"/>
              </a:rPr>
              <a:t>Personalized Wellness Applications</a:t>
            </a:r>
            <a:endParaRPr lang="en-US" sz="2200" dirty="0"/>
          </a:p>
        </p:txBody>
      </p:sp>
      <p:sp>
        <p:nvSpPr>
          <p:cNvPr id="11" name="Text 6"/>
          <p:cNvSpPr/>
          <p:nvPr/>
        </p:nvSpPr>
        <p:spPr>
          <a:xfrm>
            <a:off x="9482971" y="6307574"/>
            <a:ext cx="4004429" cy="1088708"/>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Source Sans Pro" pitchFamily="34" charset="0"/>
                <a:ea typeface="Source Sans Pro" pitchFamily="34" charset="-122"/>
                <a:cs typeface="Source Sans Pro" pitchFamily="34" charset="-120"/>
              </a:rPr>
              <a:t>Apps use AI to provide customized diet and exercise recommendations based on individual needs and goals.</a:t>
            </a:r>
            <a:endParaRPr lang="en-US" sz="1750" dirty="0"/>
          </a:p>
        </p:txBody>
      </p:sp>
      <p:pic>
        <p:nvPicPr>
          <p:cNvPr id="12" name="Image 3" descr="preencoded.png">    </p:cNvPr>
          <p:cNvPicPr>
            <a:picLocks noChangeAspect="1"/>
          </p:cNvPicPr>
          <p:nvPr/>
        </p:nvPicPr>
        <p:blipFill>
          <a:blip r:embed="rId4"/>
          <a:stretch>
            <a:fillRect/>
          </a:stretch>
        </p:blipFill>
        <p:spPr>
          <a:xfrm>
            <a:off x="13716000" y="228600"/>
            <a:ext cx="685800" cy="685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04942" y="756523"/>
            <a:ext cx="7282577" cy="1283018"/>
          </a:xfrm>
          <a:prstGeom prst="rect">
            <a:avLst/>
          </a:prstGeom>
          <a:noFill/>
          <a:ln/>
        </p:spPr>
        <p:txBody>
          <a:bodyPr wrap="square" lIns="0" tIns="0" rIns="0" bIns="0" rtlCol="0" anchor="t"/>
          <a:lstStyle/>
          <a:p>
            <a:pPr indent="0" marL="0">
              <a:lnSpc>
                <a:spcPts val="5050"/>
              </a:lnSpc>
              <a:buNone/>
            </a:pPr>
            <a:r>
              <a:rPr lang="en-US" sz="4000" dirty="0">
                <a:solidFill>
                  <a:srgbClr val="FFFFFF"/>
                </a:solidFill>
                <a:latin typeface="Lora" pitchFamily="34" charset="0"/>
                <a:ea typeface="Lora" pitchFamily="34" charset="-122"/>
                <a:cs typeface="Lora" pitchFamily="34" charset="-120"/>
              </a:rPr>
              <a:t>Improving Patient Outcomes with AI-Powered Tools</a:t>
            </a:r>
            <a:endParaRPr lang="en-US" sz="4000" dirty="0"/>
          </a:p>
        </p:txBody>
      </p:sp>
      <p:pic>
        <p:nvPicPr>
          <p:cNvPr id="4" name="Image 1" descr="preencoded.png">    </p:cNvPr>
          <p:cNvPicPr>
            <a:picLocks noChangeAspect="1"/>
          </p:cNvPicPr>
          <p:nvPr/>
        </p:nvPicPr>
        <p:blipFill>
          <a:blip r:embed="rId2"/>
          <a:stretch>
            <a:fillRect/>
          </a:stretch>
        </p:blipFill>
        <p:spPr>
          <a:xfrm>
            <a:off x="6204942" y="2347436"/>
            <a:ext cx="1026557" cy="1642586"/>
          </a:xfrm>
          <a:prstGeom prst="rect">
            <a:avLst/>
          </a:prstGeom>
        </p:spPr>
      </p:pic>
      <p:sp>
        <p:nvSpPr>
          <p:cNvPr id="5" name="Text 1"/>
          <p:cNvSpPr/>
          <p:nvPr/>
        </p:nvSpPr>
        <p:spPr>
          <a:xfrm>
            <a:off x="7539395" y="2552700"/>
            <a:ext cx="2829878" cy="320873"/>
          </a:xfrm>
          <a:prstGeom prst="rect">
            <a:avLst/>
          </a:prstGeom>
          <a:noFill/>
          <a:ln/>
        </p:spPr>
        <p:txBody>
          <a:bodyPr wrap="none" lIns="0" tIns="0" rIns="0" bIns="0" rtlCol="0" anchor="t"/>
          <a:lstStyle/>
          <a:p>
            <a:pPr algn="l" indent="0" marL="0">
              <a:lnSpc>
                <a:spcPts val="2500"/>
              </a:lnSpc>
              <a:buNone/>
            </a:pPr>
            <a:r>
              <a:rPr lang="en-US" sz="2000" dirty="0">
                <a:solidFill>
                  <a:srgbClr val="E5E0DF"/>
                </a:solidFill>
                <a:latin typeface="Lora" pitchFamily="34" charset="0"/>
                <a:ea typeface="Lora" pitchFamily="34" charset="-122"/>
                <a:cs typeface="Lora" pitchFamily="34" charset="-120"/>
              </a:rPr>
              <a:t>Early Disease Detection</a:t>
            </a:r>
            <a:endParaRPr lang="en-US" sz="2000" dirty="0"/>
          </a:p>
        </p:txBody>
      </p:sp>
      <p:sp>
        <p:nvSpPr>
          <p:cNvPr id="6" name="Text 2"/>
          <p:cNvSpPr/>
          <p:nvPr/>
        </p:nvSpPr>
        <p:spPr>
          <a:xfrm>
            <a:off x="7539395" y="2996684"/>
            <a:ext cx="5948124" cy="657225"/>
          </a:xfrm>
          <a:prstGeom prst="rect">
            <a:avLst/>
          </a:prstGeom>
          <a:noFill/>
          <a:ln/>
        </p:spPr>
        <p:txBody>
          <a:bodyPr wrap="square" lIns="0" tIns="0" rIns="0" bIns="0" rtlCol="0" anchor="t"/>
          <a:lstStyle/>
          <a:p>
            <a:pPr algn="l" indent="0" marL="0">
              <a:lnSpc>
                <a:spcPts val="2550"/>
              </a:lnSpc>
              <a:buNone/>
            </a:pPr>
            <a:r>
              <a:rPr lang="en-US" sz="1600" dirty="0">
                <a:solidFill>
                  <a:srgbClr val="E5E0DF"/>
                </a:solidFill>
                <a:latin typeface="Source Sans Pro" pitchFamily="34" charset="0"/>
                <a:ea typeface="Source Sans Pro" pitchFamily="34" charset="-122"/>
                <a:cs typeface="Source Sans Pro" pitchFamily="34" charset="-120"/>
              </a:rPr>
              <a:t>AI algorithms can detect subtle patterns in medical images and patient data, leading to earlier diagnoses and treatment.</a:t>
            </a:r>
            <a:endParaRPr lang="en-US" sz="1600" dirty="0"/>
          </a:p>
        </p:txBody>
      </p:sp>
      <p:pic>
        <p:nvPicPr>
          <p:cNvPr id="7" name="Image 2" descr="preencoded.png">    </p:cNvPr>
          <p:cNvPicPr>
            <a:picLocks noChangeAspect="1"/>
          </p:cNvPicPr>
          <p:nvPr/>
        </p:nvPicPr>
        <p:blipFill>
          <a:blip r:embed="rId3"/>
          <a:stretch>
            <a:fillRect/>
          </a:stretch>
        </p:blipFill>
        <p:spPr>
          <a:xfrm>
            <a:off x="6204942" y="3990023"/>
            <a:ext cx="1026557" cy="1642586"/>
          </a:xfrm>
          <a:prstGeom prst="rect">
            <a:avLst/>
          </a:prstGeom>
        </p:spPr>
      </p:pic>
      <p:sp>
        <p:nvSpPr>
          <p:cNvPr id="8" name="Text 3"/>
          <p:cNvSpPr/>
          <p:nvPr/>
        </p:nvSpPr>
        <p:spPr>
          <a:xfrm>
            <a:off x="7539395" y="4195286"/>
            <a:ext cx="3300651" cy="320873"/>
          </a:xfrm>
          <a:prstGeom prst="rect">
            <a:avLst/>
          </a:prstGeom>
          <a:noFill/>
          <a:ln/>
        </p:spPr>
        <p:txBody>
          <a:bodyPr wrap="none" lIns="0" tIns="0" rIns="0" bIns="0" rtlCol="0" anchor="t"/>
          <a:lstStyle/>
          <a:p>
            <a:pPr algn="l" indent="0" marL="0">
              <a:lnSpc>
                <a:spcPts val="2500"/>
              </a:lnSpc>
              <a:buNone/>
            </a:pPr>
            <a:r>
              <a:rPr lang="en-US" sz="2000" dirty="0">
                <a:solidFill>
                  <a:srgbClr val="E5E0DF"/>
                </a:solidFill>
                <a:latin typeface="Lora" pitchFamily="34" charset="0"/>
                <a:ea typeface="Lora" pitchFamily="34" charset="-122"/>
                <a:cs typeface="Lora" pitchFamily="34" charset="-120"/>
              </a:rPr>
              <a:t>Precise Treatment Planning</a:t>
            </a:r>
            <a:endParaRPr lang="en-US" sz="2000" dirty="0"/>
          </a:p>
        </p:txBody>
      </p:sp>
      <p:sp>
        <p:nvSpPr>
          <p:cNvPr id="9" name="Text 4"/>
          <p:cNvSpPr/>
          <p:nvPr/>
        </p:nvSpPr>
        <p:spPr>
          <a:xfrm>
            <a:off x="7539395" y="4639270"/>
            <a:ext cx="5948124" cy="657225"/>
          </a:xfrm>
          <a:prstGeom prst="rect">
            <a:avLst/>
          </a:prstGeom>
          <a:noFill/>
          <a:ln/>
        </p:spPr>
        <p:txBody>
          <a:bodyPr wrap="square" lIns="0" tIns="0" rIns="0" bIns="0" rtlCol="0" anchor="t"/>
          <a:lstStyle/>
          <a:p>
            <a:pPr algn="l" indent="0" marL="0">
              <a:lnSpc>
                <a:spcPts val="2550"/>
              </a:lnSpc>
              <a:buNone/>
            </a:pPr>
            <a:r>
              <a:rPr lang="en-US" sz="1600" dirty="0">
                <a:solidFill>
                  <a:srgbClr val="E5E0DF"/>
                </a:solidFill>
                <a:latin typeface="Source Sans Pro" pitchFamily="34" charset="0"/>
                <a:ea typeface="Source Sans Pro" pitchFamily="34" charset="-122"/>
                <a:cs typeface="Source Sans Pro" pitchFamily="34" charset="-120"/>
              </a:rPr>
              <a:t>AI can optimize radiation therapy plans and personalize chemotherapy regimens based on individual patient characteristics.</a:t>
            </a:r>
            <a:endParaRPr lang="en-US" sz="1600" dirty="0"/>
          </a:p>
        </p:txBody>
      </p:sp>
      <p:pic>
        <p:nvPicPr>
          <p:cNvPr id="10" name="Image 3" descr="preencoded.png">    </p:cNvPr>
          <p:cNvPicPr>
            <a:picLocks noChangeAspect="1"/>
          </p:cNvPicPr>
          <p:nvPr/>
        </p:nvPicPr>
        <p:blipFill>
          <a:blip r:embed="rId4"/>
          <a:stretch>
            <a:fillRect/>
          </a:stretch>
        </p:blipFill>
        <p:spPr>
          <a:xfrm>
            <a:off x="6204942" y="5632609"/>
            <a:ext cx="1026557" cy="1840349"/>
          </a:xfrm>
          <a:prstGeom prst="rect">
            <a:avLst/>
          </a:prstGeom>
        </p:spPr>
      </p:pic>
      <p:sp>
        <p:nvSpPr>
          <p:cNvPr id="11" name="Text 5"/>
          <p:cNvSpPr/>
          <p:nvPr/>
        </p:nvSpPr>
        <p:spPr>
          <a:xfrm>
            <a:off x="7539395" y="5837873"/>
            <a:ext cx="2726174" cy="320873"/>
          </a:xfrm>
          <a:prstGeom prst="rect">
            <a:avLst/>
          </a:prstGeom>
          <a:noFill/>
          <a:ln/>
        </p:spPr>
        <p:txBody>
          <a:bodyPr wrap="none" lIns="0" tIns="0" rIns="0" bIns="0" rtlCol="0" anchor="t"/>
          <a:lstStyle/>
          <a:p>
            <a:pPr algn="l" indent="0" marL="0">
              <a:lnSpc>
                <a:spcPts val="2500"/>
              </a:lnSpc>
              <a:buNone/>
            </a:pPr>
            <a:r>
              <a:rPr lang="en-US" sz="2000" dirty="0">
                <a:solidFill>
                  <a:srgbClr val="E5E0DF"/>
                </a:solidFill>
                <a:latin typeface="Lora" pitchFamily="34" charset="0"/>
                <a:ea typeface="Lora" pitchFamily="34" charset="-122"/>
                <a:cs typeface="Lora" pitchFamily="34" charset="-120"/>
              </a:rPr>
              <a:t>Enhanced Patient Care</a:t>
            </a:r>
            <a:endParaRPr lang="en-US" sz="2000" dirty="0"/>
          </a:p>
        </p:txBody>
      </p:sp>
      <p:sp>
        <p:nvSpPr>
          <p:cNvPr id="12" name="Text 6"/>
          <p:cNvSpPr/>
          <p:nvPr/>
        </p:nvSpPr>
        <p:spPr>
          <a:xfrm>
            <a:off x="7539395" y="6281857"/>
            <a:ext cx="5948124" cy="985837"/>
          </a:xfrm>
          <a:prstGeom prst="rect">
            <a:avLst/>
          </a:prstGeom>
          <a:noFill/>
          <a:ln/>
        </p:spPr>
        <p:txBody>
          <a:bodyPr wrap="square" lIns="0" tIns="0" rIns="0" bIns="0" rtlCol="0" anchor="t"/>
          <a:lstStyle/>
          <a:p>
            <a:pPr algn="l" indent="0" marL="0">
              <a:lnSpc>
                <a:spcPts val="2550"/>
              </a:lnSpc>
              <a:buNone/>
            </a:pPr>
            <a:r>
              <a:rPr lang="en-US" sz="1600" dirty="0">
                <a:solidFill>
                  <a:srgbClr val="E5E0DF"/>
                </a:solidFill>
                <a:latin typeface="Source Sans Pro" pitchFamily="34" charset="0"/>
                <a:ea typeface="Source Sans Pro" pitchFamily="34" charset="-122"/>
                <a:cs typeface="Source Sans Pro" pitchFamily="34" charset="-120"/>
              </a:rPr>
              <a:t>AI-powered tools can automate tasks like scheduling appointments and providing medication reminders, freeing up clinicians to focus on patient care.</a:t>
            </a:r>
            <a:endParaRPr lang="en-US" sz="1600" dirty="0"/>
          </a:p>
        </p:txBody>
      </p:sp>
      <p:pic>
        <p:nvPicPr>
          <p:cNvPr id="13" name="Image 4" descr="preencoded.png">    </p:cNvPr>
          <p:cNvPicPr>
            <a:picLocks noChangeAspect="1"/>
          </p:cNvPicPr>
          <p:nvPr/>
        </p:nvPicPr>
        <p:blipFill>
          <a:blip r:embed="rId5"/>
          <a:stretch>
            <a:fillRect/>
          </a:stretch>
        </p:blipFill>
        <p:spPr>
          <a:xfrm>
            <a:off x="13716000" y="228600"/>
            <a:ext cx="685800"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5442" y="531971"/>
            <a:ext cx="12474535" cy="603171"/>
          </a:xfrm>
          <a:prstGeom prst="rect">
            <a:avLst/>
          </a:prstGeom>
          <a:noFill/>
          <a:ln/>
        </p:spPr>
        <p:txBody>
          <a:bodyPr wrap="none" lIns="0" tIns="0" rIns="0" bIns="0" rtlCol="0" anchor="t"/>
          <a:lstStyle/>
          <a:p>
            <a:pPr indent="0" marL="0">
              <a:lnSpc>
                <a:spcPts val="4700"/>
              </a:lnSpc>
              <a:buNone/>
            </a:pPr>
            <a:r>
              <a:rPr lang="en-US" sz="3750" dirty="0">
                <a:solidFill>
                  <a:srgbClr val="FFFFFF"/>
                </a:solidFill>
                <a:latin typeface="Lora" pitchFamily="34" charset="0"/>
                <a:ea typeface="Lora" pitchFamily="34" charset="-122"/>
                <a:cs typeface="Lora" pitchFamily="34" charset="-120"/>
              </a:rPr>
              <a:t>AI Cure: A Real-Life Application of Python in Healthcare</a:t>
            </a:r>
            <a:endParaRPr lang="en-US" sz="3750" dirty="0"/>
          </a:p>
        </p:txBody>
      </p:sp>
      <p:pic>
        <p:nvPicPr>
          <p:cNvPr id="3" name="Image 0" descr="preencoded.png">    </p:cNvPr>
          <p:cNvPicPr>
            <a:picLocks noChangeAspect="1"/>
          </p:cNvPicPr>
          <p:nvPr/>
        </p:nvPicPr>
        <p:blipFill>
          <a:blip r:embed="rId1"/>
          <a:stretch>
            <a:fillRect/>
          </a:stretch>
        </p:blipFill>
        <p:spPr>
          <a:xfrm>
            <a:off x="675442" y="1521143"/>
            <a:ext cx="965002" cy="1544122"/>
          </a:xfrm>
          <a:prstGeom prst="rect">
            <a:avLst/>
          </a:prstGeom>
        </p:spPr>
      </p:pic>
      <p:sp>
        <p:nvSpPr>
          <p:cNvPr id="4" name="Text 1"/>
          <p:cNvSpPr/>
          <p:nvPr/>
        </p:nvSpPr>
        <p:spPr>
          <a:xfrm>
            <a:off x="1929884" y="1714143"/>
            <a:ext cx="3345775" cy="301466"/>
          </a:xfrm>
          <a:prstGeom prst="rect">
            <a:avLst/>
          </a:prstGeom>
          <a:noFill/>
          <a:ln/>
        </p:spPr>
        <p:txBody>
          <a:bodyPr wrap="none" lIns="0" tIns="0" rIns="0" bIns="0" rtlCol="0" anchor="t"/>
          <a:lstStyle/>
          <a:p>
            <a:pPr algn="l" indent="0" marL="0">
              <a:lnSpc>
                <a:spcPts val="2350"/>
              </a:lnSpc>
              <a:buNone/>
            </a:pPr>
            <a:r>
              <a:rPr lang="en-US" sz="1850" dirty="0">
                <a:solidFill>
                  <a:srgbClr val="E5E0DF"/>
                </a:solidFill>
                <a:latin typeface="Lora" pitchFamily="34" charset="0"/>
                <a:ea typeface="Lora" pitchFamily="34" charset="-122"/>
                <a:cs typeface="Lora" pitchFamily="34" charset="-120"/>
              </a:rPr>
              <a:t>Data Collection &amp; Preparation</a:t>
            </a:r>
            <a:endParaRPr lang="en-US" sz="1850" dirty="0"/>
          </a:p>
        </p:txBody>
      </p:sp>
      <p:sp>
        <p:nvSpPr>
          <p:cNvPr id="5" name="Text 2"/>
          <p:cNvSpPr/>
          <p:nvPr/>
        </p:nvSpPr>
        <p:spPr>
          <a:xfrm>
            <a:off x="1929884" y="2131338"/>
            <a:ext cx="11557635" cy="308729"/>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Source Sans Pro" pitchFamily="34" charset="0"/>
                <a:ea typeface="Source Sans Pro" pitchFamily="34" charset="-122"/>
                <a:cs typeface="Source Sans Pro" pitchFamily="34" charset="-120"/>
              </a:rPr>
              <a:t>Python's libraries like Pandas and NumPy are used to collect, clean, and prepare large datasets of patient information.</a:t>
            </a:r>
            <a:endParaRPr lang="en-US" sz="1500" dirty="0"/>
          </a:p>
        </p:txBody>
      </p:sp>
      <p:pic>
        <p:nvPicPr>
          <p:cNvPr id="6" name="Image 1" descr="preencoded.png">    </p:cNvPr>
          <p:cNvPicPr>
            <a:picLocks noChangeAspect="1"/>
          </p:cNvPicPr>
          <p:nvPr/>
        </p:nvPicPr>
        <p:blipFill>
          <a:blip r:embed="rId2"/>
          <a:stretch>
            <a:fillRect/>
          </a:stretch>
        </p:blipFill>
        <p:spPr>
          <a:xfrm>
            <a:off x="675442" y="3065264"/>
            <a:ext cx="965002" cy="1544122"/>
          </a:xfrm>
          <a:prstGeom prst="rect">
            <a:avLst/>
          </a:prstGeom>
        </p:spPr>
      </p:pic>
      <p:sp>
        <p:nvSpPr>
          <p:cNvPr id="7" name="Text 3"/>
          <p:cNvSpPr/>
          <p:nvPr/>
        </p:nvSpPr>
        <p:spPr>
          <a:xfrm>
            <a:off x="1929884" y="3258264"/>
            <a:ext cx="2412683" cy="301466"/>
          </a:xfrm>
          <a:prstGeom prst="rect">
            <a:avLst/>
          </a:prstGeom>
          <a:noFill/>
          <a:ln/>
        </p:spPr>
        <p:txBody>
          <a:bodyPr wrap="none" lIns="0" tIns="0" rIns="0" bIns="0" rtlCol="0" anchor="t"/>
          <a:lstStyle/>
          <a:p>
            <a:pPr algn="l" indent="0" marL="0">
              <a:lnSpc>
                <a:spcPts val="2350"/>
              </a:lnSpc>
              <a:buNone/>
            </a:pPr>
            <a:r>
              <a:rPr lang="en-US" sz="1850" dirty="0">
                <a:solidFill>
                  <a:srgbClr val="E5E0DF"/>
                </a:solidFill>
                <a:latin typeface="Lora" pitchFamily="34" charset="0"/>
                <a:ea typeface="Lora" pitchFamily="34" charset="-122"/>
                <a:cs typeface="Lora" pitchFamily="34" charset="-120"/>
              </a:rPr>
              <a:t>Model Training</a:t>
            </a:r>
            <a:endParaRPr lang="en-US" sz="1850" dirty="0"/>
          </a:p>
        </p:txBody>
      </p:sp>
      <p:sp>
        <p:nvSpPr>
          <p:cNvPr id="8" name="Text 4"/>
          <p:cNvSpPr/>
          <p:nvPr/>
        </p:nvSpPr>
        <p:spPr>
          <a:xfrm>
            <a:off x="1929884" y="3675459"/>
            <a:ext cx="11557635" cy="308729"/>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Source Sans Pro" pitchFamily="34" charset="0"/>
                <a:ea typeface="Source Sans Pro" pitchFamily="34" charset="-122"/>
                <a:cs typeface="Source Sans Pro" pitchFamily="34" charset="-120"/>
              </a:rPr>
              <a:t>Machine learning algorithms are trained on this data to identify patterns and develop predictive models.</a:t>
            </a:r>
            <a:endParaRPr lang="en-US" sz="1500" dirty="0"/>
          </a:p>
        </p:txBody>
      </p:sp>
      <p:pic>
        <p:nvPicPr>
          <p:cNvPr id="9" name="Image 2" descr="preencoded.png">    </p:cNvPr>
          <p:cNvPicPr>
            <a:picLocks noChangeAspect="1"/>
          </p:cNvPicPr>
          <p:nvPr/>
        </p:nvPicPr>
        <p:blipFill>
          <a:blip r:embed="rId3"/>
          <a:stretch>
            <a:fillRect/>
          </a:stretch>
        </p:blipFill>
        <p:spPr>
          <a:xfrm>
            <a:off x="675442" y="4609386"/>
            <a:ext cx="965002" cy="1544122"/>
          </a:xfrm>
          <a:prstGeom prst="rect">
            <a:avLst/>
          </a:prstGeom>
        </p:spPr>
      </p:pic>
      <p:sp>
        <p:nvSpPr>
          <p:cNvPr id="10" name="Text 5"/>
          <p:cNvSpPr/>
          <p:nvPr/>
        </p:nvSpPr>
        <p:spPr>
          <a:xfrm>
            <a:off x="1929884" y="4802386"/>
            <a:ext cx="3555444" cy="301466"/>
          </a:xfrm>
          <a:prstGeom prst="rect">
            <a:avLst/>
          </a:prstGeom>
          <a:noFill/>
          <a:ln/>
        </p:spPr>
        <p:txBody>
          <a:bodyPr wrap="none" lIns="0" tIns="0" rIns="0" bIns="0" rtlCol="0" anchor="t"/>
          <a:lstStyle/>
          <a:p>
            <a:pPr algn="l" indent="0" marL="0">
              <a:lnSpc>
                <a:spcPts val="2350"/>
              </a:lnSpc>
              <a:buNone/>
            </a:pPr>
            <a:r>
              <a:rPr lang="en-US" sz="1850" dirty="0">
                <a:solidFill>
                  <a:srgbClr val="E5E0DF"/>
                </a:solidFill>
                <a:latin typeface="Lora" pitchFamily="34" charset="0"/>
                <a:ea typeface="Lora" pitchFamily="34" charset="-122"/>
                <a:cs typeface="Lora" pitchFamily="34" charset="-120"/>
              </a:rPr>
              <a:t>Model Validation &amp; Deployment</a:t>
            </a:r>
            <a:endParaRPr lang="en-US" sz="1850" dirty="0"/>
          </a:p>
        </p:txBody>
      </p:sp>
      <p:sp>
        <p:nvSpPr>
          <p:cNvPr id="11" name="Text 6"/>
          <p:cNvSpPr/>
          <p:nvPr/>
        </p:nvSpPr>
        <p:spPr>
          <a:xfrm>
            <a:off x="1929884" y="5219581"/>
            <a:ext cx="11557635" cy="308729"/>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Source Sans Pro" pitchFamily="34" charset="0"/>
                <a:ea typeface="Source Sans Pro" pitchFamily="34" charset="-122"/>
                <a:cs typeface="Source Sans Pro" pitchFamily="34" charset="-120"/>
              </a:rPr>
              <a:t>Models are rigorously validated to ensure accuracy and reliability before being deployed in real-world applications.</a:t>
            </a:r>
            <a:endParaRPr lang="en-US" sz="1500" dirty="0"/>
          </a:p>
        </p:txBody>
      </p:sp>
      <p:pic>
        <p:nvPicPr>
          <p:cNvPr id="12" name="Image 3" descr="preencoded.png">    </p:cNvPr>
          <p:cNvPicPr>
            <a:picLocks noChangeAspect="1"/>
          </p:cNvPicPr>
          <p:nvPr/>
        </p:nvPicPr>
        <p:blipFill>
          <a:blip r:embed="rId4"/>
          <a:stretch>
            <a:fillRect/>
          </a:stretch>
        </p:blipFill>
        <p:spPr>
          <a:xfrm>
            <a:off x="675442" y="6153507"/>
            <a:ext cx="965002" cy="1544122"/>
          </a:xfrm>
          <a:prstGeom prst="rect">
            <a:avLst/>
          </a:prstGeom>
        </p:spPr>
      </p:pic>
      <p:sp>
        <p:nvSpPr>
          <p:cNvPr id="13" name="Text 7"/>
          <p:cNvSpPr/>
          <p:nvPr/>
        </p:nvSpPr>
        <p:spPr>
          <a:xfrm>
            <a:off x="1929884" y="6346508"/>
            <a:ext cx="3335179" cy="301466"/>
          </a:xfrm>
          <a:prstGeom prst="rect">
            <a:avLst/>
          </a:prstGeom>
          <a:noFill/>
          <a:ln/>
        </p:spPr>
        <p:txBody>
          <a:bodyPr wrap="none" lIns="0" tIns="0" rIns="0" bIns="0" rtlCol="0" anchor="t"/>
          <a:lstStyle/>
          <a:p>
            <a:pPr algn="l" indent="0" marL="0">
              <a:lnSpc>
                <a:spcPts val="2350"/>
              </a:lnSpc>
              <a:buNone/>
            </a:pPr>
            <a:r>
              <a:rPr lang="en-US" sz="1850" dirty="0">
                <a:solidFill>
                  <a:srgbClr val="E5E0DF"/>
                </a:solidFill>
                <a:latin typeface="Lora" pitchFamily="34" charset="0"/>
                <a:ea typeface="Lora" pitchFamily="34" charset="-122"/>
                <a:cs typeface="Lora" pitchFamily="34" charset="-120"/>
              </a:rPr>
              <a:t>Personalized Treatment Plans</a:t>
            </a:r>
            <a:endParaRPr lang="en-US" sz="1850" dirty="0"/>
          </a:p>
        </p:txBody>
      </p:sp>
      <p:sp>
        <p:nvSpPr>
          <p:cNvPr id="14" name="Text 8"/>
          <p:cNvSpPr/>
          <p:nvPr/>
        </p:nvSpPr>
        <p:spPr>
          <a:xfrm>
            <a:off x="1929884" y="6763703"/>
            <a:ext cx="11557635" cy="308729"/>
          </a:xfrm>
          <a:prstGeom prst="rect">
            <a:avLst/>
          </a:prstGeom>
          <a:noFill/>
          <a:ln/>
        </p:spPr>
        <p:txBody>
          <a:bodyPr wrap="none" lIns="0" tIns="0" rIns="0" bIns="0" rtlCol="0" anchor="t"/>
          <a:lstStyle/>
          <a:p>
            <a:pPr algn="l" indent="0" marL="0">
              <a:lnSpc>
                <a:spcPts val="2400"/>
              </a:lnSpc>
              <a:buNone/>
            </a:pPr>
            <a:r>
              <a:rPr lang="en-US" sz="1500" dirty="0">
                <a:solidFill>
                  <a:srgbClr val="E5E0DF"/>
                </a:solidFill>
                <a:latin typeface="Source Sans Pro" pitchFamily="34" charset="0"/>
                <a:ea typeface="Source Sans Pro" pitchFamily="34" charset="-122"/>
                <a:cs typeface="Source Sans Pro" pitchFamily="34" charset="-120"/>
              </a:rPr>
              <a:t>AI algorithms can personalize treatment plans based on individual patient characteristics, leading to more effective outcomes.</a:t>
            </a:r>
            <a:endParaRPr lang="en-US" sz="1500" dirty="0"/>
          </a:p>
        </p:txBody>
      </p:sp>
      <p:pic>
        <p:nvPicPr>
          <p:cNvPr id="15" name="Image 4" descr="preencoded.png">    </p:cNvPr>
          <p:cNvPicPr>
            <a:picLocks noChangeAspect="1"/>
          </p:cNvPicPr>
          <p:nvPr/>
        </p:nvPicPr>
        <p:blipFill>
          <a:blip r:embed="rId5"/>
          <a:stretch>
            <a:fillRect/>
          </a:stretch>
        </p:blipFill>
        <p:spPr>
          <a:xfrm>
            <a:off x="13716000" y="228600"/>
            <a:ext cx="685800" cy="685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7111" y="547688"/>
            <a:ext cx="10741581" cy="622340"/>
          </a:xfrm>
          <a:prstGeom prst="rect">
            <a:avLst/>
          </a:prstGeom>
          <a:noFill/>
          <a:ln/>
        </p:spPr>
        <p:txBody>
          <a:bodyPr wrap="none" lIns="0" tIns="0" rIns="0" bIns="0" rtlCol="0" anchor="t"/>
          <a:lstStyle/>
          <a:p>
            <a:pPr indent="0" marL="0">
              <a:lnSpc>
                <a:spcPts val="4900"/>
              </a:lnSpc>
              <a:buNone/>
            </a:pPr>
            <a:r>
              <a:rPr lang="en-US" sz="3900" dirty="0">
                <a:solidFill>
                  <a:srgbClr val="FFFFFF"/>
                </a:solidFill>
                <a:latin typeface="Lora" pitchFamily="34" charset="0"/>
                <a:ea typeface="Lora" pitchFamily="34" charset="-122"/>
                <a:cs typeface="Lora" pitchFamily="34" charset="-120"/>
              </a:rPr>
              <a:t>Overcoming Challenges in Implementing AI in </a:t>
            </a:r>
            <a:endParaRPr lang="en-US" sz="3900" dirty="0"/>
          </a:p>
        </p:txBody>
      </p:sp>
      <p:sp>
        <p:nvSpPr>
          <p:cNvPr id="3" name="Text 1"/>
          <p:cNvSpPr/>
          <p:nvPr/>
        </p:nvSpPr>
        <p:spPr>
          <a:xfrm>
            <a:off x="697111" y="1468755"/>
            <a:ext cx="8422362" cy="622340"/>
          </a:xfrm>
          <a:prstGeom prst="rect">
            <a:avLst/>
          </a:prstGeom>
          <a:noFill/>
          <a:ln/>
        </p:spPr>
        <p:txBody>
          <a:bodyPr wrap="none" lIns="0" tIns="0" rIns="0" bIns="0" rtlCol="0" anchor="t"/>
          <a:lstStyle/>
          <a:p>
            <a:pPr indent="0" marL="0">
              <a:lnSpc>
                <a:spcPts val="4900"/>
              </a:lnSpc>
              <a:buNone/>
            </a:pPr>
            <a:r>
              <a:rPr lang="en-US" sz="3900" dirty="0">
                <a:solidFill>
                  <a:srgbClr val="FFFFFF"/>
                </a:solidFill>
                <a:latin typeface="Lora" pitchFamily="34" charset="0"/>
                <a:ea typeface="Lora" pitchFamily="34" charset="-122"/>
                <a:cs typeface="Lora" pitchFamily="34" charset="-120"/>
              </a:rPr>
              <a:t>The Future of AI in Medical Sciences</a:t>
            </a:r>
            <a:endParaRPr lang="en-US" sz="3900" dirty="0"/>
          </a:p>
        </p:txBody>
      </p:sp>
      <p:pic>
        <p:nvPicPr>
          <p:cNvPr id="4" name="Image 0" descr="preencoded.png">    </p:cNvPr>
          <p:cNvPicPr>
            <a:picLocks noChangeAspect="1"/>
          </p:cNvPicPr>
          <p:nvPr/>
        </p:nvPicPr>
        <p:blipFill>
          <a:blip r:embed="rId1"/>
          <a:stretch>
            <a:fillRect/>
          </a:stretch>
        </p:blipFill>
        <p:spPr>
          <a:xfrm>
            <a:off x="704731" y="2518886"/>
            <a:ext cx="2427565" cy="2427565"/>
          </a:xfrm>
          <a:prstGeom prst="rect">
            <a:avLst/>
          </a:prstGeom>
        </p:spPr>
      </p:pic>
      <p:pic>
        <p:nvPicPr>
          <p:cNvPr id="5" name="Image 1" descr="preencoded.png">    </p:cNvPr>
          <p:cNvPicPr>
            <a:picLocks noChangeAspect="1"/>
          </p:cNvPicPr>
          <p:nvPr/>
        </p:nvPicPr>
        <p:blipFill>
          <a:blip r:embed="rId2"/>
          <a:stretch>
            <a:fillRect/>
          </a:stretch>
        </p:blipFill>
        <p:spPr>
          <a:xfrm>
            <a:off x="3291602" y="2518886"/>
            <a:ext cx="2427565" cy="2427565"/>
          </a:xfrm>
          <a:prstGeom prst="rect">
            <a:avLst/>
          </a:prstGeom>
        </p:spPr>
      </p:pic>
      <p:pic>
        <p:nvPicPr>
          <p:cNvPr id="6" name="Image 2" descr="preencoded.png">    </p:cNvPr>
          <p:cNvPicPr>
            <a:picLocks noChangeAspect="1"/>
          </p:cNvPicPr>
          <p:nvPr/>
        </p:nvPicPr>
        <p:blipFill>
          <a:blip r:embed="rId3"/>
          <a:stretch>
            <a:fillRect/>
          </a:stretch>
        </p:blipFill>
        <p:spPr>
          <a:xfrm>
            <a:off x="5878473" y="2518886"/>
            <a:ext cx="2427565" cy="2427565"/>
          </a:xfrm>
          <a:prstGeom prst="rect">
            <a:avLst/>
          </a:prstGeom>
        </p:spPr>
      </p:pic>
      <p:pic>
        <p:nvPicPr>
          <p:cNvPr id="7" name="Image 3" descr="preencoded.png">    </p:cNvPr>
          <p:cNvPicPr>
            <a:picLocks noChangeAspect="1"/>
          </p:cNvPicPr>
          <p:nvPr/>
        </p:nvPicPr>
        <p:blipFill>
          <a:blip r:embed="rId4"/>
          <a:stretch>
            <a:fillRect/>
          </a:stretch>
        </p:blipFill>
        <p:spPr>
          <a:xfrm>
            <a:off x="8465344" y="2518886"/>
            <a:ext cx="2427565" cy="2427565"/>
          </a:xfrm>
          <a:prstGeom prst="rect">
            <a:avLst/>
          </a:prstGeom>
        </p:spPr>
      </p:pic>
      <p:pic>
        <p:nvPicPr>
          <p:cNvPr id="8" name="Image 4" descr="preencoded.png">    </p:cNvPr>
          <p:cNvPicPr>
            <a:picLocks noChangeAspect="1"/>
          </p:cNvPicPr>
          <p:nvPr/>
        </p:nvPicPr>
        <p:blipFill>
          <a:blip r:embed="rId5"/>
          <a:stretch>
            <a:fillRect/>
          </a:stretch>
        </p:blipFill>
        <p:spPr>
          <a:xfrm>
            <a:off x="11052215" y="2518886"/>
            <a:ext cx="2427565" cy="2427565"/>
          </a:xfrm>
          <a:prstGeom prst="rect">
            <a:avLst/>
          </a:prstGeom>
        </p:spPr>
      </p:pic>
      <p:pic>
        <p:nvPicPr>
          <p:cNvPr id="9" name="Image 5" descr="preencoded.png">    </p:cNvPr>
          <p:cNvPicPr>
            <a:picLocks noChangeAspect="1"/>
          </p:cNvPicPr>
          <p:nvPr/>
        </p:nvPicPr>
        <p:blipFill>
          <a:blip r:embed="rId6"/>
          <a:stretch>
            <a:fillRect/>
          </a:stretch>
        </p:blipFill>
        <p:spPr>
          <a:xfrm>
            <a:off x="704731" y="5105757"/>
            <a:ext cx="2427565" cy="2427565"/>
          </a:xfrm>
          <a:prstGeom prst="rect">
            <a:avLst/>
          </a:prstGeom>
        </p:spPr>
      </p:pic>
      <p:pic>
        <p:nvPicPr>
          <p:cNvPr id="10" name="Image 6" descr="preencoded.png">    </p:cNvPr>
          <p:cNvPicPr>
            <a:picLocks noChangeAspect="1"/>
          </p:cNvPicPr>
          <p:nvPr/>
        </p:nvPicPr>
        <p:blipFill>
          <a:blip r:embed="rId7"/>
          <a:stretch>
            <a:fillRect/>
          </a:stretch>
        </p:blipFill>
        <p:spPr>
          <a:xfrm>
            <a:off x="13716000" y="22860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5819"/>
            <a:ext cx="12693729"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Lora" pitchFamily="34" charset="0"/>
                <a:ea typeface="Lora" pitchFamily="34" charset="-122"/>
                <a:cs typeface="Lora" pitchFamily="34" charset="-120"/>
              </a:rPr>
              <a:t>thank you… all for your time and attention today .</a:t>
            </a:r>
            <a:endParaRPr lang="en-US" sz="4450" dirty="0"/>
          </a:p>
        </p:txBody>
      </p:sp>
      <p:pic>
        <p:nvPicPr>
          <p:cNvPr id="3" name="Image 0" descr="preencoded.png">    </p:cNvPr>
          <p:cNvPicPr>
            <a:picLocks noChangeAspect="1"/>
          </p:cNvPicPr>
          <p:nvPr/>
        </p:nvPicPr>
        <p:blipFill>
          <a:blip r:embed="rId1"/>
          <a:stretch>
            <a:fillRect/>
          </a:stretch>
        </p:blipFill>
        <p:spPr>
          <a:xfrm>
            <a:off x="5318046" y="2707005"/>
            <a:ext cx="3645218" cy="4686657"/>
          </a:xfrm>
          <a:prstGeom prst="rect">
            <a:avLst/>
          </a:prstGeom>
        </p:spPr>
      </p:pic>
      <p:pic>
        <p:nvPicPr>
          <p:cNvPr id="4" name="Image 1" descr="preencoded.png">    </p:cNvPr>
          <p:cNvPicPr>
            <a:picLocks noChangeAspect="1"/>
          </p:cNvPicPr>
          <p:nvPr/>
        </p:nvPicPr>
        <p:blipFill>
          <a:blip r:embed="rId2"/>
          <a:stretch>
            <a:fillRect/>
          </a:stretch>
        </p:blipFill>
        <p:spPr>
          <a:xfrm>
            <a:off x="13716000" y="228600"/>
            <a:ext cx="685800" cy="685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2025-01-16T15:18:04Z</dcterms:created>
  <dcterms:modified xsi:type="dcterms:W3CDTF">2025-01-16T15:18:04Z</dcterms:modified>
</cp:coreProperties>
</file>